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7" r:id="rId2"/>
    <p:sldId id="276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  <p:sldId id="268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m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92E8F-9739-47A2-B12D-D446091D2D99}" type="datetimeFigureOut">
              <a:rPr lang="am-ET" smtClean="0"/>
              <a:t>05/12/2025</a:t>
            </a:fld>
            <a:endParaRPr lang="am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m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m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m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B900C-7324-4D3A-9F39-D3C404314BCE}" type="slidenum">
              <a:rPr lang="am-ET" smtClean="0"/>
              <a:t>‹#›</a:t>
            </a:fld>
            <a:endParaRPr lang="am-ET"/>
          </a:p>
        </p:txBody>
      </p:sp>
    </p:spTree>
    <p:extLst>
      <p:ext uri="{BB962C8B-B14F-4D97-AF65-F5344CB8AC3E}">
        <p14:creationId xmlns:p14="http://schemas.microsoft.com/office/powerpoint/2010/main" val="4075873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B27C-493B-4E0E-B3BE-BB30C5DFDAB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6B339-BD59-49B3-96C6-9713BED92A8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4385-150C-44C5-BA08-D580D797855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E7B57-193C-4875-B212-41F1E546992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3E49-E24F-4619-A693-03F6E5EA34D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AA1ED-E33E-48BF-93DB-DF7414495B77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E714-C7A3-46C1-8813-12CEC68035D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090F5-98DE-4164-B65C-54405CC11AF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E269-D49C-46FC-B126-78098B2F4A7B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59D1-C3B9-477C-BEB8-C0AFA3E0788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699E-A4BE-480A-BFB6-7BCC85D6620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CD2C-2DB7-4622-B494-1071DD8A476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404-B7AF-4D8E-8FC2-0A0B292800C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BBCC-8359-4969-B730-8DC9A29BEDB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4CAB2-703F-4DF7-89F6-28C358C52B5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FB45-CDC0-43E5-A9ED-5BBA130DAA0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4E592-37FC-49F5-8F20-C27421262D6A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12AC21C-8DEF-47DE-85C6-C8475CAC3DB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P.by:- Group 3 members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015" y="618517"/>
            <a:ext cx="10364451" cy="1596177"/>
          </a:xfrm>
        </p:spPr>
        <p:txBody>
          <a:bodyPr/>
          <a:lstStyle/>
          <a:p>
            <a:r>
              <a:rPr lang="en-US" sz="4400" b="1" cap="none" dirty="0" smtClean="0">
                <a:latin typeface="Century" panose="02040604050505020304" pitchFamily="18" charset="0"/>
              </a:rPr>
              <a:t>Title</a:t>
            </a:r>
            <a:endParaRPr lang="en-US" sz="44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25283" y="2367092"/>
            <a:ext cx="10363826" cy="3424107"/>
          </a:xfrm>
        </p:spPr>
        <p:txBody>
          <a:bodyPr/>
          <a:lstStyle/>
          <a:p>
            <a:pPr marL="0" indent="0">
              <a:buNone/>
            </a:pPr>
            <a:r>
              <a:rPr lang="en-US" b="1" cap="none" dirty="0" smtClean="0"/>
              <a:t>      </a:t>
            </a:r>
            <a:r>
              <a:rPr lang="en-US" sz="3200" b="1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3200" b="1" cap="none" dirty="0" smtClean="0">
                <a:latin typeface="Century" panose="02040604050505020304" pitchFamily="18" charset="0"/>
              </a:rPr>
              <a:t> &amp; the societal trade-offs between </a:t>
            </a:r>
          </a:p>
          <a:p>
            <a:pPr marL="0" indent="0">
              <a:buNone/>
            </a:pPr>
            <a:r>
              <a:rPr lang="en-US" sz="3200" b="1" cap="none" dirty="0" smtClean="0">
                <a:latin typeface="Century" panose="02040604050505020304" pitchFamily="18" charset="0"/>
              </a:rPr>
              <a:t>    </a:t>
            </a:r>
            <a:r>
              <a:rPr lang="en-US" sz="3200" b="1" cap="none" dirty="0" smtClean="0">
                <a:latin typeface="Century" panose="02040604050505020304" pitchFamily="18" charset="0"/>
              </a:rPr>
              <a:t>  </a:t>
            </a:r>
            <a:r>
              <a:rPr lang="en-US" sz="3200" b="1" cap="none" dirty="0" smtClean="0">
                <a:latin typeface="Century" panose="02040604050505020304" pitchFamily="18" charset="0"/>
              </a:rPr>
              <a:t>robust security measures and privacy rights </a:t>
            </a:r>
          </a:p>
          <a:p>
            <a:pPr marL="0" indent="0">
              <a:buNone/>
            </a:pPr>
            <a:r>
              <a:rPr lang="en-US" sz="3200" b="1" cap="none" dirty="0" smtClean="0">
                <a:latin typeface="Century" panose="02040604050505020304" pitchFamily="18" charset="0"/>
              </a:rPr>
              <a:t>         </a:t>
            </a:r>
            <a:r>
              <a:rPr lang="en-US" sz="3200" b="1" cap="none" dirty="0" smtClean="0">
                <a:latin typeface="Century" panose="02040604050505020304" pitchFamily="18" charset="0"/>
              </a:rPr>
              <a:t>         </a:t>
            </a:r>
            <a:r>
              <a:rPr lang="en-US" sz="3200" b="1" cap="none" dirty="0" smtClean="0">
                <a:latin typeface="Century" panose="02040604050505020304" pitchFamily="18" charset="0"/>
              </a:rPr>
              <a:t>in the context of </a:t>
            </a:r>
            <a:r>
              <a:rPr lang="en-US" sz="3200" b="1" cap="none" dirty="0">
                <a:latin typeface="Century" panose="02040604050505020304" pitchFamily="18" charset="0"/>
              </a:rPr>
              <a:t>E</a:t>
            </a:r>
            <a:r>
              <a:rPr lang="en-US" sz="3200" b="1" cap="none" dirty="0" smtClean="0">
                <a:latin typeface="Century" panose="02040604050505020304" pitchFamily="18" charset="0"/>
              </a:rPr>
              <a:t>thiopia</a:t>
            </a:r>
            <a:endParaRPr lang="en-US" sz="3200" cap="none" dirty="0">
              <a:latin typeface="Century" panose="020406040505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26409" y="6247070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3461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14562" y="918555"/>
            <a:ext cx="13864264" cy="953108"/>
          </a:xfrm>
        </p:spPr>
        <p:txBody>
          <a:bodyPr>
            <a:normAutofit/>
          </a:bodyPr>
          <a:lstStyle/>
          <a:p>
            <a:r>
              <a:rPr lang="en-US" sz="4000" b="1" cap="none" dirty="0" smtClean="0">
                <a:latin typeface="Century" panose="02040604050505020304" pitchFamily="18" charset="0"/>
                <a:cs typeface="Calibri" panose="020F0502020204030204" pitchFamily="34" charset="0"/>
              </a:rPr>
              <a:t>Contents</a:t>
            </a:r>
            <a:endParaRPr lang="en-US" sz="4000" b="1" cap="none" dirty="0">
              <a:latin typeface="Century" panose="020406040505050203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10536" y="2002990"/>
            <a:ext cx="10363826" cy="420329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 </a:t>
            </a:r>
            <a:r>
              <a:rPr lang="en-US" sz="2400" b="1" cap="none" dirty="0" smtClean="0">
                <a:latin typeface="Century" panose="02040604050505020304" pitchFamily="18" charset="0"/>
              </a:rPr>
              <a:t>Define A </a:t>
            </a:r>
            <a:r>
              <a:rPr lang="en-US" sz="2400" b="1" cap="none" dirty="0" err="1" smtClean="0">
                <a:latin typeface="Century" panose="02040604050505020304" pitchFamily="18" charset="0"/>
              </a:rPr>
              <a:t>Blockchain</a:t>
            </a:r>
            <a:endParaRPr lang="en-US" sz="2400" b="1" cap="none" dirty="0" smtClean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cap="none" dirty="0" smtClean="0">
                <a:latin typeface="Century" panose="02040604050505020304" pitchFamily="18" charset="0"/>
              </a:rPr>
              <a:t>The Societal Trade-off Between Robust Security And Privacy Rights        In The Context Of Ethiopia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cap="none" dirty="0" smtClean="0">
                <a:latin typeface="Century" panose="02040604050505020304" pitchFamily="18" charset="0"/>
              </a:rPr>
              <a:t>The Drive For Robust Security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cap="none" dirty="0" smtClean="0">
                <a:latin typeface="Century" panose="02040604050505020304" pitchFamily="18" charset="0"/>
              </a:rPr>
              <a:t>Challenge Of Privacy Rights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cap="none" dirty="0" smtClean="0">
                <a:latin typeface="Century" panose="02040604050505020304" pitchFamily="18" charset="0"/>
              </a:rPr>
              <a:t>Societal Trade-off &amp; The Balance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cap="none" dirty="0" smtClean="0">
                <a:latin typeface="Century" panose="02040604050505020304" pitchFamily="18" charset="0"/>
              </a:rPr>
              <a:t>Robust Security Measures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cap="none" dirty="0" smtClean="0">
                <a:latin typeface="Century" panose="02040604050505020304" pitchFamily="18" charset="0"/>
              </a:rPr>
              <a:t>Privacy Rights</a:t>
            </a:r>
            <a:endParaRPr lang="en-US" sz="2400" b="1" dirty="0">
              <a:latin typeface="Century" panose="020406040505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505646" y="6337607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971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0"/>
            <a:ext cx="8689976" cy="1047134"/>
          </a:xfrm>
        </p:spPr>
        <p:txBody>
          <a:bodyPr>
            <a:noAutofit/>
          </a:bodyPr>
          <a:lstStyle/>
          <a:p>
            <a:r>
              <a:rPr lang="en-US" sz="4000" b="1" cap="none" dirty="0" smtClean="0">
                <a:latin typeface="Century" panose="02040604050505020304" pitchFamily="18" charset="0"/>
                <a:cs typeface="Calibri" panose="020F0502020204030204" pitchFamily="34" charset="0"/>
              </a:rPr>
              <a:t>Introduction</a:t>
            </a:r>
            <a:endParaRPr lang="en-US" sz="4000" b="1" dirty="0">
              <a:latin typeface="Century" panose="02040604050505020304" pitchFamily="18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5625" y="1047135"/>
            <a:ext cx="10102645" cy="5486400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cap="none" dirty="0" err="1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Blockchain</a:t>
            </a:r>
            <a:r>
              <a:rPr lang="en-US" sz="2800" cap="none" dirty="0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technology has emerged as one of the most transformative innovations of the 21st century.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It is a decentralized digital ledger system that records transactions securely and transparently across multiple computers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The privacy trade-offs: while backdoors might support national security and law enforcement, they undermine individual privacy and trust in digital systems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Privacy rights, citizens, and organizations depend on </a:t>
            </a:r>
            <a:r>
              <a:rPr lang="en-US" sz="2800" cap="none" dirty="0" err="1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blockchain</a:t>
            </a:r>
            <a:r>
              <a:rPr lang="en-US" sz="2800" cap="none" dirty="0" smtClean="0">
                <a:solidFill>
                  <a:schemeClr val="tx1"/>
                </a:solidFill>
                <a:latin typeface="Century" panose="02040604050505020304" pitchFamily="18" charset="0"/>
                <a:cs typeface="Calibri" panose="020F0502020204030204" pitchFamily="34" charset="0"/>
              </a:rPr>
              <a:t> encryption to ensure personal and financial data remain confidential.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US" sz="2800" cap="none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800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540240" y="6350972"/>
            <a:ext cx="7175673" cy="507028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9894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50" y="618518"/>
            <a:ext cx="10364451" cy="561353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cap="none" dirty="0" smtClean="0">
                <a:latin typeface="Century" panose="02040604050505020304" pitchFamily="18" charset="0"/>
              </a:rPr>
              <a:t>Define a </a:t>
            </a:r>
            <a:r>
              <a:rPr lang="en-US" sz="4400" b="1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4400" b="1" cap="none" dirty="0" smtClean="0">
                <a:latin typeface="Century" panose="02040604050505020304" pitchFamily="18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13787" y="1179871"/>
            <a:ext cx="10363826" cy="49849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A </a:t>
            </a:r>
            <a:r>
              <a:rPr lang="en-US" sz="2800" b="1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2800" cap="none" dirty="0" smtClean="0">
                <a:latin typeface="Century" panose="02040604050505020304" pitchFamily="18" charset="0"/>
              </a:rPr>
              <a:t> is a growing list of records called blocks, linked using cryptography.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Each block contains a cryptographic hash of the previous block, a timestamp, and transaction data (generally represented as a </a:t>
            </a:r>
            <a:r>
              <a:rPr lang="en-US" sz="2800" cap="none" dirty="0" err="1" smtClean="0">
                <a:latin typeface="Century" panose="02040604050505020304" pitchFamily="18" charset="0"/>
              </a:rPr>
              <a:t>merkle</a:t>
            </a:r>
            <a:r>
              <a:rPr lang="en-US" sz="2800" cap="none" dirty="0" smtClean="0">
                <a:latin typeface="Century" panose="02040604050505020304" pitchFamily="18" charset="0"/>
              </a:rPr>
              <a:t> tree).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A </a:t>
            </a:r>
            <a:r>
              <a:rPr lang="en-US" sz="2800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2800" cap="none" dirty="0" smtClean="0">
                <a:latin typeface="Century" panose="02040604050505020304" pitchFamily="18" charset="0"/>
              </a:rPr>
              <a:t> is a time-stamped series of immutable data records managed by a cluster of computers and not owned by any single entity.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29599" y="6361054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680015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847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05780" y="530026"/>
            <a:ext cx="8800497" cy="576102"/>
          </a:xfrm>
        </p:spPr>
        <p:txBody>
          <a:bodyPr>
            <a:normAutofit fontScale="90000"/>
          </a:bodyPr>
          <a:lstStyle/>
          <a:p>
            <a:r>
              <a:rPr lang="en-US" sz="4000" b="1" cap="none" dirty="0" err="1" smtClean="0">
                <a:latin typeface="Century" panose="02040604050505020304" pitchFamily="18" charset="0"/>
              </a:rPr>
              <a:t>Cont</a:t>
            </a:r>
            <a:r>
              <a:rPr lang="en-US" sz="3200" b="1" dirty="0" smtClean="0">
                <a:latin typeface="Century" panose="02040604050505020304" pitchFamily="18" charset="0"/>
              </a:rPr>
              <a:t>…..</a:t>
            </a:r>
            <a:endParaRPr lang="en-US" sz="3200" b="1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207894"/>
            <a:ext cx="10363826" cy="453758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Blocks on the </a:t>
            </a:r>
            <a:r>
              <a:rPr lang="en-US" sz="2800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2800" cap="none" dirty="0" smtClean="0">
                <a:latin typeface="Century" panose="02040604050505020304" pitchFamily="18" charset="0"/>
              </a:rPr>
              <a:t> consist of digital information in three parts 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Block stores information about A transaction : such as the date, time, and amount of A purchase (</a:t>
            </a:r>
            <a:r>
              <a:rPr lang="en-US" sz="2800" cap="none" dirty="0" err="1" smtClean="0">
                <a:latin typeface="Century" panose="02040604050505020304" pitchFamily="18" charset="0"/>
              </a:rPr>
              <a:t>eg</a:t>
            </a:r>
            <a:r>
              <a:rPr lang="en-US" sz="2800" cap="none" dirty="0" smtClean="0">
                <a:latin typeface="Century" panose="02040604050505020304" pitchFamily="18" charset="0"/>
              </a:rPr>
              <a:t>. Amazon)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Block store information about who is  participation transaction.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Block stores information that distinguishes them from other blocks.</a:t>
            </a:r>
          </a:p>
          <a:p>
            <a:pPr marL="0" indent="0">
              <a:buNone/>
            </a:pPr>
            <a:r>
              <a:rPr lang="en-US" cap="none" dirty="0" smtClean="0"/>
              <a:t>     </a:t>
            </a:r>
            <a:endParaRPr lang="en-US" cap="non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16440" y="6248400"/>
            <a:ext cx="7350195" cy="411480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93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3883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4000" b="1" cap="none" dirty="0" smtClean="0">
                <a:latin typeface="Century" panose="02040604050505020304" pitchFamily="18" charset="0"/>
              </a:rPr>
              <a:t> uses in </a:t>
            </a:r>
            <a:r>
              <a:rPr lang="en-US" sz="4000" b="1" cap="none" dirty="0" err="1" smtClean="0">
                <a:latin typeface="Century" panose="02040604050505020304" pitchFamily="18" charset="0"/>
              </a:rPr>
              <a:t>ethiopia</a:t>
            </a:r>
            <a:r>
              <a:rPr lang="en-US" sz="4000" b="1" cap="none" dirty="0" smtClean="0">
                <a:latin typeface="Century" panose="02040604050505020304" pitchFamily="18" charset="0"/>
              </a:rPr>
              <a:t>:-</a:t>
            </a: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57350"/>
            <a:ext cx="10363826" cy="4133849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For land registration system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Reduce corruption or crime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Securing digital identity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cap="none" dirty="0" smtClean="0">
                <a:latin typeface="Century" panose="02040604050505020304" pitchFamily="18" charset="0"/>
              </a:rPr>
              <a:t>Main features of </a:t>
            </a:r>
            <a:r>
              <a:rPr lang="en-US" sz="2400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2400" cap="none" dirty="0" smtClean="0">
                <a:latin typeface="Century" panose="02040604050505020304" pitchFamily="18" charset="0"/>
              </a:rPr>
              <a:t> 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Decentralized :- not owned by a single entity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Immutable :- making it immutable and tamper-resistant or difficult to change or delete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Cryptographically data is stored</a:t>
            </a:r>
            <a:endParaRPr lang="en-US" sz="2400" cap="none" dirty="0">
              <a:latin typeface="Century" panose="020406040505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72049" y="6157913"/>
            <a:ext cx="6672887" cy="365125"/>
          </a:xfrm>
        </p:spPr>
        <p:txBody>
          <a:bodyPr/>
          <a:lstStyle/>
          <a:p>
            <a:r>
              <a:rPr lang="en-US" sz="1200" dirty="0" smtClean="0"/>
              <a:t>P.by:- Group 3 members 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0568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514350"/>
            <a:ext cx="10364451" cy="1643062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The societal trade-off between robust security and privacy rights in </a:t>
            </a:r>
            <a:r>
              <a:rPr lang="en-US" sz="4000" b="1" cap="none" dirty="0">
                <a:latin typeface="Century" panose="02040604050505020304" pitchFamily="18" charset="0"/>
              </a:rPr>
              <a:t>E</a:t>
            </a:r>
            <a:r>
              <a:rPr lang="en-US" sz="4000" b="1" cap="none" dirty="0" smtClean="0">
                <a:latin typeface="Century" panose="02040604050505020304" pitchFamily="18" charset="0"/>
              </a:rPr>
              <a:t>thiopia</a:t>
            </a:r>
            <a:br>
              <a:rPr lang="en-US" sz="4000" b="1" cap="none" dirty="0" smtClean="0">
                <a:latin typeface="Century" panose="02040604050505020304" pitchFamily="18" charset="0"/>
              </a:rPr>
            </a:b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286000"/>
            <a:ext cx="10363826" cy="39862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It is characterized by a significant tilt toward national security concerns, often resulting in the curtailment of individual privacy and civil liberties.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Although the government has recently enacted data protection laws, their implementation and the broader security framework continue to raise concerns about state overreach and the protection of citizens' rights.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cap="none" dirty="0">
              <a:latin typeface="Century" panose="020406040505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433560" y="6218238"/>
            <a:ext cx="2758441" cy="639762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72653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-132735"/>
            <a:ext cx="10364451" cy="175505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The drivers for robust security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002890"/>
            <a:ext cx="10363826" cy="514718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cap="none" dirty="0" smtClean="0">
                <a:latin typeface="Century" panose="02040604050505020304" pitchFamily="18" charset="0"/>
              </a:rPr>
              <a:t> </a:t>
            </a:r>
            <a:r>
              <a:rPr lang="en-US" sz="2400" b="1" cap="none" dirty="0" smtClean="0">
                <a:latin typeface="Century" panose="02040604050505020304" pitchFamily="18" charset="0"/>
              </a:rPr>
              <a:t>Context of conflict</a:t>
            </a:r>
            <a:r>
              <a:rPr lang="en-US" sz="2400" cap="none" dirty="0" smtClean="0">
                <a:latin typeface="Century" panose="02040604050505020304" pitchFamily="18" charset="0"/>
              </a:rPr>
              <a:t>: </a:t>
            </a:r>
            <a:r>
              <a:rPr lang="en-US" sz="2400" cap="none" dirty="0" err="1" smtClean="0">
                <a:latin typeface="Century" panose="02040604050505020304" pitchFamily="18" charset="0"/>
              </a:rPr>
              <a:t>ethiopia</a:t>
            </a:r>
            <a:r>
              <a:rPr lang="en-US" sz="2400" cap="none" dirty="0" smtClean="0">
                <a:latin typeface="Century" panose="02040604050505020304" pitchFamily="18" charset="0"/>
              </a:rPr>
              <a:t> has faced significant internal and external security threats, which the government uses to justify strong security measures and high levels of surveillance.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cap="none" dirty="0" smtClean="0">
                <a:latin typeface="Century" panose="02040604050505020304" pitchFamily="18" charset="0"/>
              </a:rPr>
              <a:t>Legal frameworks</a:t>
            </a:r>
            <a:r>
              <a:rPr lang="en-US" sz="2400" cap="none" dirty="0" smtClean="0">
                <a:latin typeface="Century" panose="02040604050505020304" pitchFamily="18" charset="0"/>
              </a:rPr>
              <a:t>: laws such as the anti-terrorism proclamation and the computer crime proclamation are used to target individuals, including journalists and critics, on national security grounds.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cap="none" dirty="0" smtClean="0">
                <a:latin typeface="Century" panose="02040604050505020304" pitchFamily="18" charset="0"/>
              </a:rPr>
              <a:t>State control over communications</a:t>
            </a:r>
            <a:r>
              <a:rPr lang="en-US" sz="2400" cap="none" dirty="0" smtClean="0">
                <a:latin typeface="Century" panose="02040604050505020304" pitchFamily="18" charset="0"/>
              </a:rPr>
              <a:t>: the state’s historical monopoly over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 Telecommunications (through </a:t>
            </a:r>
            <a:r>
              <a:rPr lang="en-US" sz="2400" cap="none" dirty="0" err="1" smtClean="0">
                <a:latin typeface="Century" panose="02040604050505020304" pitchFamily="18" charset="0"/>
              </a:rPr>
              <a:t>ethio</a:t>
            </a:r>
            <a:r>
              <a:rPr lang="en-US" sz="2400" cap="none" dirty="0" smtClean="0">
                <a:latin typeface="Century" panose="02040604050505020304" pitchFamily="18" charset="0"/>
              </a:rPr>
              <a:t> telecom)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 Facilitates widespread surveillance,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413896" y="6388715"/>
            <a:ext cx="7055720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1153" y="5923270"/>
            <a:ext cx="764215" cy="365125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259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57128" y="603769"/>
            <a:ext cx="10364451" cy="812077"/>
          </a:xfrm>
        </p:spPr>
        <p:txBody>
          <a:bodyPr/>
          <a:lstStyle/>
          <a:p>
            <a:r>
              <a:rPr lang="en-US" sz="4000" b="1" cap="none" dirty="0" err="1" smtClean="0">
                <a:latin typeface="Century" panose="02040604050505020304" pitchFamily="18" charset="0"/>
              </a:rPr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13786" y="1415846"/>
            <a:ext cx="10363826" cy="4375353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>
                <a:latin typeface="Century" panose="02040604050505020304" pitchFamily="18" charset="0"/>
              </a:rPr>
              <a:t> Including monitoring of internet traffic,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>
                <a:latin typeface="Century" panose="02040604050505020304" pitchFamily="18" charset="0"/>
              </a:rPr>
              <a:t>Call records, and social media activity.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>
                <a:latin typeface="Century" panose="02040604050505020304" pitchFamily="18" charset="0"/>
              </a:rPr>
              <a:t>Internet shutdowns are common during political tension to suppress information flow and protest coordination.</a:t>
            </a:r>
            <a:endParaRPr lang="en-US" sz="2800" dirty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cap="none" dirty="0" smtClean="0">
                <a:latin typeface="Century" panose="02040604050505020304" pitchFamily="18" charset="0"/>
              </a:rPr>
              <a:t> </a:t>
            </a:r>
            <a:r>
              <a:rPr lang="en-US" sz="2400" b="1" cap="none" dirty="0" smtClean="0">
                <a:latin typeface="Century" panose="02040604050505020304" pitchFamily="18" charset="0"/>
              </a:rPr>
              <a:t>Lack of independent oversight</a:t>
            </a:r>
            <a:r>
              <a:rPr lang="en-US" sz="2400" cap="none" dirty="0" smtClean="0">
                <a:latin typeface="Century" panose="02040604050505020304" pitchFamily="18" charset="0"/>
              </a:rPr>
              <a:t>: despite legal requirements for judicial authorization, reports suggest widespread warrantless surveillance with limited independent oversight or accountability for human rights abuses.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52341" y="6238151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757" cy="365125"/>
          </a:xfrm>
        </p:spPr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4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97" y="634181"/>
            <a:ext cx="10570303" cy="1504336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cap="none" dirty="0" smtClean="0">
                <a:latin typeface="Century" panose="02040604050505020304" pitchFamily="18" charset="0"/>
              </a:rPr>
              <a:t>Challenges of privacy rights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96066"/>
            <a:ext cx="10363826" cy="46618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cap="none" dirty="0" smtClean="0">
                <a:latin typeface="Century" panose="02040604050505020304" pitchFamily="18" charset="0"/>
              </a:rPr>
              <a:t>Constitutional rights vs. Practices</a:t>
            </a:r>
            <a:r>
              <a:rPr lang="en-US" sz="2400" cap="none" dirty="0" smtClean="0">
                <a:latin typeface="Century" panose="02040604050505020304" pitchFamily="18" charset="0"/>
              </a:rPr>
              <a:t>: the </a:t>
            </a:r>
            <a:r>
              <a:rPr lang="en-US" sz="2400" cap="none" dirty="0" err="1" smtClean="0">
                <a:latin typeface="Century" panose="02040604050505020304" pitchFamily="18" charset="0"/>
              </a:rPr>
              <a:t>ethiopian</a:t>
            </a:r>
            <a:r>
              <a:rPr lang="en-US" sz="2400" cap="none" dirty="0" smtClean="0">
                <a:latin typeface="Century" panose="02040604050505020304" pitchFamily="18" charset="0"/>
              </a:rPr>
              <a:t> constitution guarantees a general right to privacy, but in practice, these rights are frequently compromised by government 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cap="none" dirty="0" smtClean="0">
                <a:latin typeface="Century" panose="02040604050505020304" pitchFamily="18" charset="0"/>
              </a:rPr>
              <a:t> Government surveillance</a:t>
            </a:r>
            <a:r>
              <a:rPr lang="en-US" sz="2400" cap="none" dirty="0" smtClean="0">
                <a:latin typeface="Century" panose="02040604050505020304" pitchFamily="18" charset="0"/>
              </a:rPr>
              <a:t>: state agencies reportedly engage in extensive digital surveillance using advanced tools to hack mobile phones and monitor individuals, including political figures.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cap="none" dirty="0" smtClean="0">
                <a:latin typeface="Century" panose="02040604050505020304" pitchFamily="18" charset="0"/>
              </a:rPr>
              <a:t> </a:t>
            </a:r>
            <a:r>
              <a:rPr lang="en-US" sz="2400" b="1" cap="none" dirty="0" smtClean="0">
                <a:latin typeface="Century" panose="02040604050505020304" pitchFamily="18" charset="0"/>
              </a:rPr>
              <a:t>Vague legislation</a:t>
            </a:r>
            <a:r>
              <a:rPr lang="en-US" sz="2400" cap="none" dirty="0" smtClean="0">
                <a:latin typeface="Century" panose="02040604050505020304" pitchFamily="18" charset="0"/>
              </a:rPr>
              <a:t>: broadly worded laws on cybercrime, terrorism, and hate speech create an environment susceptible to political exploitation, allowing authorities to justify censorship and arrests of dissenting voices.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429286" y="6357938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37966" y="5883275"/>
            <a:ext cx="764215" cy="365125"/>
          </a:xfrm>
        </p:spPr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39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00863" y="770915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b="1" cap="none" dirty="0" err="1" smtClean="0">
                <a:latin typeface="Century" panose="02040604050505020304" pitchFamily="18" charset="0"/>
              </a:rPr>
              <a:t>Cont</a:t>
            </a:r>
            <a:r>
              <a:rPr lang="en-US" sz="4000" b="1" cap="none" dirty="0" smtClean="0">
                <a:latin typeface="Century" panose="02040604050505020304" pitchFamily="18" charset="0"/>
              </a:rPr>
              <a:t>…</a:t>
            </a: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800" b="1" cap="none" dirty="0" smtClean="0">
                <a:latin typeface="Century" panose="02040604050505020304" pitchFamily="18" charset="0"/>
              </a:rPr>
              <a:t>Intimidation and self-censorship</a:t>
            </a:r>
            <a:r>
              <a:rPr lang="en-US" sz="2800" cap="none" dirty="0" smtClean="0">
                <a:latin typeface="Century" panose="02040604050505020304" pitchFamily="18" charset="0"/>
              </a:rPr>
              <a:t>: fear of government surveillance and crackdowns leads to widespread self-censorship among media, academics, and the public, eroding freedom of expression.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31680" y="6340476"/>
            <a:ext cx="7097935" cy="395604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6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85737"/>
            <a:ext cx="10364451" cy="167163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Societal trade-off and the balance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500188"/>
            <a:ext cx="10363826" cy="53578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cap="none" dirty="0" smtClean="0">
                <a:latin typeface="Century" panose="02040604050505020304" pitchFamily="18" charset="0"/>
              </a:rPr>
              <a:t>The argument for security</a:t>
            </a:r>
            <a:r>
              <a:rPr lang="en-US" sz="2800" cap="none" dirty="0" smtClean="0">
                <a:latin typeface="Century" panose="02040604050505020304" pitchFamily="18" charset="0"/>
              </a:rPr>
              <a:t>: proponents argue that robust security is necessary to maintain national stability, prevent cybercrime, and address terrorism, ensuring a safe environment for economic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cap="none" dirty="0" smtClean="0">
                <a:latin typeface="Century" panose="02040604050505020304" pitchFamily="18" charset="0"/>
              </a:rPr>
              <a:t>The argument for privacy and liberties</a:t>
            </a:r>
            <a:r>
              <a:rPr lang="en-US" sz="2800" cap="none" dirty="0" smtClean="0">
                <a:latin typeface="Century" panose="02040604050505020304" pitchFamily="18" charset="0"/>
              </a:rPr>
              <a:t>: critics argue that the current balance heavily favors the state at the expense of fundamental liberties.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cap="none" dirty="0" smtClean="0">
                <a:latin typeface="Century" panose="02040604050505020304" pitchFamily="18" charset="0"/>
              </a:rPr>
              <a:t>Recent developments</a:t>
            </a:r>
            <a:r>
              <a:rPr lang="en-US" sz="2800" cap="none" dirty="0" smtClean="0">
                <a:latin typeface="Century" panose="02040604050505020304" pitchFamily="18" charset="0"/>
              </a:rPr>
              <a:t>:- the personal data protection proclamation of 2014 aims to establish a comprehensive legal framework for data privacy.</a:t>
            </a:r>
            <a:endParaRPr lang="en-US" sz="2800" cap="none" dirty="0">
              <a:latin typeface="Century" panose="020406040505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90048" y="6492875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4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Robust security measures in </a:t>
            </a:r>
            <a:r>
              <a:rPr lang="en-US" sz="4000" b="1" cap="none" dirty="0" err="1" smtClean="0">
                <a:latin typeface="Century" panose="02040604050505020304" pitchFamily="18" charset="0"/>
              </a:rPr>
              <a:t>ethiopia</a:t>
            </a:r>
            <a:r>
              <a:rPr lang="en-US" sz="4000" b="1" cap="none" dirty="0" smtClean="0">
                <a:latin typeface="Century" panose="02040604050505020304" pitchFamily="18" charset="0"/>
              </a:rPr>
              <a:t/>
            </a:r>
            <a:br>
              <a:rPr lang="en-US" sz="4000" b="1" cap="none" dirty="0" smtClean="0">
                <a:latin typeface="Century" panose="02040604050505020304" pitchFamily="18" charset="0"/>
              </a:rPr>
            </a:b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Ethiopia has implemented a range of security measures formalized through legislation, granting the state considerable powers in: 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 telecommunications control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Technological capabilities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Data localization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798695" y="6340476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76243" y="5883275"/>
            <a:ext cx="764215" cy="365125"/>
          </a:xfrm>
        </p:spPr>
        <p:txBody>
          <a:bodyPr/>
          <a:lstStyle/>
          <a:p>
            <a:r>
              <a:rPr lang="en-US" dirty="0" smtClean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38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Privacy rights in </a:t>
            </a:r>
            <a:r>
              <a:rPr lang="en-US" sz="4000" b="1" cap="none" dirty="0" err="1" smtClean="0">
                <a:latin typeface="Century" panose="02040604050505020304" pitchFamily="18" charset="0"/>
              </a:rPr>
              <a:t>ethiopia</a:t>
            </a:r>
            <a:r>
              <a:rPr lang="en-US" sz="4000" b="1" cap="none" dirty="0" smtClean="0">
                <a:latin typeface="Century" panose="02040604050505020304" pitchFamily="18" charset="0"/>
              </a:rPr>
              <a:t/>
            </a:r>
            <a:br>
              <a:rPr lang="en-US" sz="4000" b="1" cap="none" dirty="0" smtClean="0">
                <a:latin typeface="Century" panose="02040604050505020304" pitchFamily="18" charset="0"/>
              </a:rPr>
            </a:b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cap="none" dirty="0" smtClean="0">
                <a:latin typeface="Century" panose="02040604050505020304" pitchFamily="18" charset="0"/>
              </a:rPr>
              <a:t>Despite robust security measures, privacy rights are formally protected within </a:t>
            </a:r>
            <a:r>
              <a:rPr lang="en-US" sz="2800" cap="none" dirty="0" err="1" smtClean="0">
                <a:latin typeface="Century" panose="02040604050505020304" pitchFamily="18" charset="0"/>
              </a:rPr>
              <a:t>ethiopia's</a:t>
            </a:r>
            <a:r>
              <a:rPr lang="en-US" sz="2800" cap="none" dirty="0" smtClean="0">
                <a:latin typeface="Century" panose="02040604050505020304" pitchFamily="18" charset="0"/>
              </a:rPr>
              <a:t> legal framework through: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Constitutional guarantees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Specific legislation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Judicial procedures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0" y="6331974"/>
            <a:ext cx="2286000" cy="526026"/>
          </a:xfrm>
        </p:spPr>
        <p:txBody>
          <a:bodyPr/>
          <a:lstStyle/>
          <a:p>
            <a:r>
              <a:rPr lang="en-US" sz="1200" dirty="0" smtClean="0"/>
              <a:t>P.by:- Group 3 members 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89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Conclusion</a:t>
            </a: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2292" y="1079705"/>
            <a:ext cx="10363826" cy="544817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2800" b="1" cap="none" dirty="0" smtClean="0">
                <a:latin typeface="Century" panose="02040604050505020304" pitchFamily="18" charset="0"/>
              </a:rPr>
              <a:t> :- </a:t>
            </a:r>
            <a:r>
              <a:rPr lang="en-US" sz="2800" cap="none" dirty="0" smtClean="0">
                <a:latin typeface="Century" panose="02040604050505020304" pitchFamily="18" charset="0"/>
              </a:rPr>
              <a:t>is decentralized digital ledger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It records transactions across multiple computers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It uses cryptography for security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cap="none" dirty="0" smtClean="0">
                <a:latin typeface="Century" panose="02040604050505020304" pitchFamily="18" charset="0"/>
              </a:rPr>
              <a:t>Data cannot be easily altered once recorded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cap="none" dirty="0" smtClean="0">
                <a:latin typeface="Century" panose="02040604050505020304" pitchFamily="18" charset="0"/>
              </a:rPr>
              <a:t>Ethiopia faces a clear trade-off between security and privacy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cap="none" dirty="0" err="1" smtClean="0">
                <a:latin typeface="Century" panose="02040604050505020304" pitchFamily="18" charset="0"/>
              </a:rPr>
              <a:t>Blockchain</a:t>
            </a:r>
            <a:r>
              <a:rPr lang="en-US" sz="2800" cap="none" dirty="0" smtClean="0">
                <a:latin typeface="Century" panose="02040604050505020304" pitchFamily="18" charset="0"/>
              </a:rPr>
              <a:t> offers opportunities but also surveillance risks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cap="none" dirty="0" smtClean="0">
                <a:latin typeface="Century" panose="02040604050505020304" pitchFamily="18" charset="0"/>
              </a:rPr>
              <a:t>Legal reforms exist but enforcement is weak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cap="none" dirty="0" smtClean="0">
                <a:latin typeface="Century" panose="02040604050505020304" pitchFamily="18" charset="0"/>
              </a:rPr>
              <a:t>Future balance depends on governance &amp; accountability</a:t>
            </a:r>
            <a:endParaRPr lang="en-US" sz="2800" cap="none" dirty="0">
              <a:latin typeface="Century" panose="020406040505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707880" y="6302487"/>
            <a:ext cx="2433401" cy="555513"/>
          </a:xfrm>
        </p:spPr>
        <p:txBody>
          <a:bodyPr/>
          <a:lstStyle/>
          <a:p>
            <a:r>
              <a:rPr lang="en-US" sz="1400" dirty="0" smtClean="0"/>
              <a:t>P.by:- Group </a:t>
            </a:r>
            <a:r>
              <a:rPr lang="en-US" sz="1400" dirty="0" smtClean="0"/>
              <a:t>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0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cap="none" dirty="0" smtClean="0">
                <a:latin typeface="Century" panose="02040604050505020304" pitchFamily="18" charset="0"/>
              </a:rPr>
              <a:t>References</a:t>
            </a:r>
            <a:br>
              <a:rPr lang="en-US" sz="4000" b="1" cap="none" dirty="0" smtClean="0">
                <a:latin typeface="Century" panose="02040604050505020304" pitchFamily="18" charset="0"/>
              </a:rPr>
            </a:br>
            <a:endParaRPr lang="en-US" sz="4000" b="1" cap="none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cap="none" dirty="0" smtClean="0">
                <a:latin typeface="Century" panose="02040604050505020304" pitchFamily="18" charset="0"/>
              </a:rPr>
              <a:t> Introduction to emerging technology course modules – Nov 2019            </a:t>
            </a:r>
          </a:p>
          <a:p>
            <a:pPr marL="0" indent="0">
              <a:buNone/>
            </a:pPr>
            <a:r>
              <a:rPr lang="en-US" sz="2800" cap="none" dirty="0" smtClean="0">
                <a:latin typeface="Century" panose="02040604050505020304" pitchFamily="18" charset="0"/>
              </a:rPr>
              <a:t>                     Developed by: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cap="none" dirty="0" err="1" smtClean="0">
                <a:latin typeface="Century" panose="02040604050505020304" pitchFamily="18" charset="0"/>
              </a:rPr>
              <a:t>Girma</a:t>
            </a:r>
            <a:r>
              <a:rPr lang="en-US" sz="2800" cap="none" dirty="0" smtClean="0">
                <a:latin typeface="Century" panose="02040604050505020304" pitchFamily="18" charset="0"/>
              </a:rPr>
              <a:t> </a:t>
            </a:r>
            <a:r>
              <a:rPr lang="en-US" sz="2800" cap="none" dirty="0" err="1">
                <a:latin typeface="Century" panose="02040604050505020304" pitchFamily="18" charset="0"/>
              </a:rPr>
              <a:t>D</a:t>
            </a:r>
            <a:r>
              <a:rPr lang="en-US" sz="2800" cap="none" dirty="0" err="1" smtClean="0">
                <a:latin typeface="Century" panose="02040604050505020304" pitchFamily="18" charset="0"/>
              </a:rPr>
              <a:t>ebela</a:t>
            </a:r>
            <a:r>
              <a:rPr lang="en-US" sz="2800" cap="none" dirty="0" smtClean="0">
                <a:latin typeface="Century" panose="02040604050505020304" pitchFamily="18" charset="0"/>
              </a:rPr>
              <a:t>(</a:t>
            </a:r>
            <a:r>
              <a:rPr lang="en-US" sz="2800" cap="none" dirty="0" err="1" smtClean="0">
                <a:latin typeface="Century" panose="02040604050505020304" pitchFamily="18" charset="0"/>
              </a:rPr>
              <a:t>msc</a:t>
            </a:r>
            <a:r>
              <a:rPr lang="en-US" sz="2800" cap="none" dirty="0" smtClean="0">
                <a:latin typeface="Century" panose="02040604050505020304" pitchFamily="18" charset="0"/>
              </a:rPr>
              <a:t>) from ASTU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cap="none" dirty="0" err="1" smtClean="0">
                <a:latin typeface="Century" panose="02040604050505020304" pitchFamily="18" charset="0"/>
              </a:rPr>
              <a:t>Yonnas</a:t>
            </a:r>
            <a:r>
              <a:rPr lang="en-US" sz="2800" cap="none" dirty="0" smtClean="0">
                <a:latin typeface="Century" panose="02040604050505020304" pitchFamily="18" charset="0"/>
              </a:rPr>
              <a:t> </a:t>
            </a:r>
            <a:r>
              <a:rPr lang="en-US" sz="2800" cap="none" dirty="0" err="1">
                <a:latin typeface="Century" panose="02040604050505020304" pitchFamily="18" charset="0"/>
              </a:rPr>
              <a:t>T</a:t>
            </a:r>
            <a:r>
              <a:rPr lang="en-US" sz="2800" cap="none" dirty="0" err="1" smtClean="0">
                <a:latin typeface="Century" panose="02040604050505020304" pitchFamily="18" charset="0"/>
              </a:rPr>
              <a:t>esfaye</a:t>
            </a:r>
            <a:r>
              <a:rPr lang="en-US" sz="2800" cap="none" dirty="0" smtClean="0">
                <a:latin typeface="Century" panose="02040604050505020304" pitchFamily="18" charset="0"/>
              </a:rPr>
              <a:t> </a:t>
            </a:r>
            <a:r>
              <a:rPr lang="en-US" sz="2800" cap="none" dirty="0" smtClean="0">
                <a:latin typeface="Century" panose="02040604050505020304" pitchFamily="18" charset="0"/>
              </a:rPr>
              <a:t>from AASTU</a:t>
            </a:r>
          </a:p>
          <a:p>
            <a:pPr marL="0" indent="0">
              <a:buNone/>
            </a:pPr>
            <a:r>
              <a:rPr lang="en-US" sz="2800" cap="none" dirty="0" smtClean="0">
                <a:latin typeface="Century" panose="02040604050505020304" pitchFamily="18" charset="0"/>
              </a:rPr>
              <a:t>2. Addis </a:t>
            </a:r>
            <a:r>
              <a:rPr lang="en-US" sz="2800" cap="none" dirty="0">
                <a:latin typeface="Century" panose="02040604050505020304" pitchFamily="18" charset="0"/>
              </a:rPr>
              <a:t>A</a:t>
            </a:r>
            <a:r>
              <a:rPr lang="en-US" sz="2800" cap="none" dirty="0" smtClean="0">
                <a:latin typeface="Century" panose="02040604050505020304" pitchFamily="18" charset="0"/>
              </a:rPr>
              <a:t>baba </a:t>
            </a:r>
            <a:r>
              <a:rPr lang="en-US" sz="2800" cap="none" dirty="0" smtClean="0">
                <a:latin typeface="Century" panose="02040604050505020304" pitchFamily="18" charset="0"/>
              </a:rPr>
              <a:t>university – the right to privacy in the age of surveillance, may 2024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15839" y="6340476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98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1"/>
            <a:ext cx="10364451" cy="6129338"/>
          </a:xfrm>
        </p:spPr>
        <p:txBody>
          <a:bodyPr>
            <a:normAutofit/>
          </a:bodyPr>
          <a:lstStyle/>
          <a:p>
            <a:pPr marL="0" indent="0"/>
            <a:r>
              <a:rPr lang="en-US" sz="9600" b="1" i="1" dirty="0">
                <a:latin typeface="Cambria" panose="02040503050406030204" pitchFamily="18" charset="0"/>
                <a:ea typeface="Cambria" panose="02040503050406030204" pitchFamily="18" charset="0"/>
              </a:rPr>
              <a:t>Thank  you</a:t>
            </a:r>
            <a:r>
              <a:rPr lang="en-US" sz="9600" b="1" i="1" cap="none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</a:t>
            </a:r>
            <a:endParaRPr lang="en-US" sz="9600" b="1" i="1" cap="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700586" y="6248400"/>
            <a:ext cx="6672887" cy="365125"/>
          </a:xfrm>
        </p:spPr>
        <p:txBody>
          <a:bodyPr/>
          <a:lstStyle/>
          <a:p>
            <a:r>
              <a:rPr lang="en-US" sz="1400" dirty="0" smtClean="0"/>
              <a:t>P.by:- Group 3 members </a:t>
            </a: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5750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237</TotalTime>
  <Words>980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Century</vt:lpstr>
      <vt:lpstr>Nyala</vt:lpstr>
      <vt:lpstr>Tw Cen MT</vt:lpstr>
      <vt:lpstr>Wingdings</vt:lpstr>
      <vt:lpstr>Droplet</vt:lpstr>
      <vt:lpstr>Title</vt:lpstr>
      <vt:lpstr>Contents</vt:lpstr>
      <vt:lpstr>Introduction</vt:lpstr>
      <vt:lpstr>Define a blockchain  </vt:lpstr>
      <vt:lpstr>Cont…..</vt:lpstr>
      <vt:lpstr>Blockchain uses in ethiopia:-</vt:lpstr>
      <vt:lpstr>The societal trade-off between robust security and privacy rights in Ethiopia </vt:lpstr>
      <vt:lpstr>The drivers for robust security </vt:lpstr>
      <vt:lpstr>Cont…</vt:lpstr>
      <vt:lpstr>Challenges of privacy rights   </vt:lpstr>
      <vt:lpstr>Cont…</vt:lpstr>
      <vt:lpstr>Societal trade-off and the balance </vt:lpstr>
      <vt:lpstr>Robust security measures in ethiopia </vt:lpstr>
      <vt:lpstr>Privacy rights in ethiopia </vt:lpstr>
      <vt:lpstr>Conclusion</vt:lpstr>
      <vt:lpstr>References </vt:lpstr>
      <vt:lpstr>Thank 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HP</dc:creator>
  <cp:lastModifiedBy>HP</cp:lastModifiedBy>
  <cp:revision>30</cp:revision>
  <dcterms:created xsi:type="dcterms:W3CDTF">2025-12-05T12:00:21Z</dcterms:created>
  <dcterms:modified xsi:type="dcterms:W3CDTF">2025-12-05T18:01:06Z</dcterms:modified>
</cp:coreProperties>
</file>